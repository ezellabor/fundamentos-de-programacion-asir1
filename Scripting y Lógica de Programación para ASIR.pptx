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</ns0:sldIdLst>
  <ns0:sldSz cx="12192000" cy="6858000" type="screen4x3"/>
  <ns0:notesSz cx="6858000" cy="9144000"/>
  <ns0:embeddedFontLst>
    <ns0:embeddedFont>
      <ns0:font typeface="JetBrains Mono"/>
      <ns0:regular ns1:id="rIdFont14"/>
    </ns0:embeddedFont>
    <ns0:embeddedFont>
      <ns0:font typeface="Inter"/>
      <ns0:bold ns1:id="rIdFont15"/>
      <ns0:regular ns1:id="rIdFont16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Font14" Type="http://schemas.openxmlformats.org/officeDocument/2006/relationships/font" Target="fonts/5a11943e-efd5-41a4-9446-10067c6e8254.fntdata" /><ns0:Relationship Id="rIdFont15" Type="http://schemas.openxmlformats.org/officeDocument/2006/relationships/font" Target="fonts/60014805-9ed1-4b70-83ca-381604e68062.fntdata" /><ns0:Relationship Id="rIdFont16" Type="http://schemas.openxmlformats.org/officeDocument/2006/relationships/font" Target="fonts/13255bbb-73fd-45dd-8503-acb12a48d437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4536727"/>
            <a:ext cx="609600" cy="381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283172"/>
            <a:ext cx="11430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Inter"/>
              </a:rPr>
              <a:t>PUESTA EN MARCHA DE UN EQUIPO EN RED • ASIR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597497"/>
            <a:ext cx="9101137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8FAFC"/>
                </a:solidFill>
                <a:latin typeface="Inter"/>
              </a:rPr>
              <a:t>Scripting y Lógica de Programación para SysAdmins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965227"/>
            <a:ext cx="83343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94A3B8"/>
                </a:solidFill>
                <a:latin typeface="Inter"/>
              </a:rPr>
              <a:t>Profesor: Ezequiel Llarena Borges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706100" y="616148"/>
            <a:ext cx="723900" cy="276225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2309217"/>
            <a:ext cx="10668000" cy="112871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3742729"/>
            <a:ext cx="10668000" cy="1400175"/>
          </a:xfrm>
          <a:prstGeom prst="rect">
            <a:avLst/>
          </a:prstGeom>
          <a:solidFill>
            <a:srgbClr val="FD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2309217"/>
            <a:ext cx="57150" cy="1128712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00" y="3742729"/>
            <a:ext cx="57150" cy="1400175"/>
          </a:xfrm>
          <a:prstGeom prst="rect">
            <a:avLst/>
          </a:prstGeom>
          <a:solidFill>
            <a:srgbClr val="D94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571500"/>
            <a:ext cx="4838104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Inter"/>
              </a:rPr>
              <a:t>Introducción y Propósito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9450" y="673298"/>
            <a:ext cx="5524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02 / 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3950" y="2575917"/>
            <a:ext cx="1106805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Inter"/>
              </a:rPr>
              <a:t>Objetivo Pedagógico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3950" y="2899767"/>
            <a:ext cx="11068050" cy="27146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b="0" sz="1425" i="0" u="none">
                <a:solidFill>
                  <a:srgbClr val="475569"/>
                </a:solidFill>
                <a:latin typeface="Inter"/>
              </a:rPr>
              <a:t>Derribar la resistencia inicial ("yo no he venido a ASIR para programar") enfocándolo hacia la eficiencia operativa.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3950" y="4009429"/>
            <a:ext cx="1106805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86198F"/>
                </a:solidFill>
                <a:latin typeface="Inter"/>
              </a:rPr>
              <a:t>Pregunta de Enganche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3950" y="4333279"/>
            <a:ext cx="1009650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b="0" sz="1425" i="0" u="none">
                <a:solidFill>
                  <a:srgbClr val="701A75"/>
                </a:solidFill>
                <a:latin typeface="Inter"/>
              </a:rPr>
              <a:t>¿Preferís crear 100 usuarios en un servidor Windows a mano uno a uno, o ejecutar una orden y recuperar ese tiempo para tomaros un café?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706100" y="616148"/>
            <a:ext cx="723900" cy="276225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1916310"/>
            <a:ext cx="5181600" cy="3619500"/>
          </a:xfrm>
          <a:prstGeom prst="roundRect">
            <a:avLst>
              <a:gd name="adj" fmla="val 315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48400" y="1916310"/>
            <a:ext cx="5181600" cy="3619500"/>
          </a:xfrm>
          <a:prstGeom prst="roundRect">
            <a:avLst>
              <a:gd name="adj" fmla="val 3157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425" y="2932658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825" y="2932658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9675" y="3056483"/>
            <a:ext cx="266700" cy="2095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4650" y="3056483"/>
            <a:ext cx="209550" cy="2095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2000" y="571500"/>
            <a:ext cx="8188523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Inter"/>
              </a:rPr>
              <a:t>Enfoque Profesional: DAM / DAW vs. ASIR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9450" y="673298"/>
            <a:ext cx="5524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03 / 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4425" y="3580358"/>
            <a:ext cx="5875734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DAM / DAW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4425" y="3970883"/>
            <a:ext cx="45720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Construyen producto para el usuario final (lógica de negocio, interfaces gráficas, bases de datos).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0825" y="3580358"/>
            <a:ext cx="559117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E3A8A"/>
                </a:solidFill>
                <a:latin typeface="Inter"/>
              </a:rPr>
              <a:t>ASIR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825" y="3970883"/>
            <a:ext cx="45720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1E40AF"/>
                </a:solidFill>
                <a:latin typeface="Inter"/>
              </a:rPr>
              <a:t>Administran, protegen y automatizan los servidores e infraestructura donde corre el software.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706100" y="616148"/>
            <a:ext cx="723900" cy="276225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2302222"/>
            <a:ext cx="10668000" cy="1752302"/>
          </a:xfrm>
          <a:prstGeom prst="roundRect">
            <a:avLst>
              <a:gd name="adj" fmla="val 6522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2000" y="4283124"/>
            <a:ext cx="5219700" cy="828675"/>
          </a:xfrm>
          <a:prstGeom prst="roundRect">
            <a:avLst>
              <a:gd name="adj" fmla="val 91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0300" y="4283124"/>
            <a:ext cx="5219700" cy="828675"/>
          </a:xfrm>
          <a:prstGeom prst="roundRect">
            <a:avLst>
              <a:gd name="adj" fmla="val 91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571500"/>
            <a:ext cx="9738717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Inter"/>
              </a:rPr>
              <a:t>Script en Acción: Automatización en Linux (Bash)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9450" y="673298"/>
            <a:ext cx="5524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04 /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800" y="2568922"/>
            <a:ext cx="10153650" cy="12189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64748B"/>
                </a:solidFill>
                <a:latin typeface="JetBrains Mono"/>
              </a:rPr>
              <a:t>#!/bin/bash</a:t>
            </a:r>
            <a:r>
              <a:t>
</a:t>
            </a:r>
            <a:r>
              <a:rPr b="0" sz="1200" i="0" u="none">
                <a:solidFill>
                  <a:srgbClr val="38BDF8"/>
                </a:solidFill>
                <a:latin typeface="JetBrains Mono"/>
              </a:rPr>
              <a:t>USO</a:t>
            </a:r>
            <a:r>
              <a:rPr b="0" sz="1200" i="0" u="none">
                <a:solidFill>
                  <a:srgbClr val="F8FAFC"/>
                </a:solidFill>
                <a:latin typeface="JetBrains Mono"/>
              </a:rPr>
              <a:t>=$(df / | grep / | awk '{print $5}' | sed 's/%//g')</a:t>
            </a:r>
            <a:r>
              <a:t>
</a:t>
            </a:r>
            <a:r>
              <a:rPr b="0" sz="1200" i="0" u="none">
                <a:solidFill>
                  <a:srgbClr val="F43F5E"/>
                </a:solidFill>
                <a:latin typeface="JetBrains Mono"/>
              </a:rPr>
              <a:t>if</a:t>
            </a:r>
            <a:r>
              <a:rPr b="0" sz="1200" i="0" u="none">
                <a:solidFill>
                  <a:srgbClr val="F8FAFC"/>
                </a:solidFill>
                <a:latin typeface="JetBrains Mono"/>
              </a:rPr>
              <a:t> [ </a:t>
            </a:r>
            <a:r>
              <a:rPr b="0" sz="1200" i="0" u="none">
                <a:solidFill>
                  <a:srgbClr val="38BDF8"/>
                </a:solidFill>
                <a:latin typeface="JetBrains Mono"/>
              </a:rPr>
              <a:t>$USO</a:t>
            </a:r>
            <a:r>
              <a:rPr b="0" sz="1200" i="0" u="none">
                <a:solidFill>
                  <a:srgbClr val="F8FAFC"/>
                </a:solidFill>
                <a:latin typeface="JetBrains Mono"/>
              </a:rPr>
              <a:t> -gt 85 ]; </a:t>
            </a:r>
            <a:r>
              <a:rPr b="0" sz="1200" i="0" u="none">
                <a:solidFill>
                  <a:srgbClr val="F43F5E"/>
                </a:solidFill>
                <a:latin typeface="JetBrains Mono"/>
              </a:rPr>
              <a:t>then</a:t>
            </a:r>
            <a:r>
              <a:t>
</a:t>
            </a:r>
            <a:r>
              <a:rPr b="0" sz="1200" i="0" u="none">
                <a:solidFill>
                  <a:srgbClr val="F8FAFC"/>
                </a:solidFill>
                <a:latin typeface="JetBrains Mono"/>
              </a:rPr>
              <a:t>   echo </a:t>
            </a:r>
            <a:r>
              <a:rPr b="0" sz="1200" i="0" u="none">
                <a:solidFill>
                  <a:srgbClr val="A5B4FC"/>
                </a:solidFill>
                <a:latin typeface="JetBrains Mono"/>
              </a:rPr>
              <a:t>"Alerta: Espacio crítico en disco (${USO}%)"</a:t>
            </a:r>
            <a:r>
              <a:rPr b="0" sz="1200" i="0" u="none">
                <a:solidFill>
                  <a:srgbClr val="F8FAFC"/>
                </a:solidFill>
                <a:latin typeface="JetBrains Mono"/>
              </a:rPr>
              <a:t> | mail -s "SysAdmin Alert" admin@empresa.com</a:t>
            </a:r>
            <a:r>
              <a:t>
</a:t>
            </a:r>
            <a:r>
              <a:rPr b="0" sz="1200" i="0" u="none">
                <a:solidFill>
                  <a:srgbClr val="F43F5E"/>
                </a:solidFill>
                <a:latin typeface="JetBrains Mono"/>
              </a:rPr>
              <a:t>fi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25" y="4483149"/>
            <a:ext cx="602456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Variables de Sistema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025" y="4730799"/>
            <a:ext cx="602456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Almacenan dinámicamente métricas como el uso de disco.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0325" y="4483149"/>
            <a:ext cx="57816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Condicionales (if)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0325" y="4730799"/>
            <a:ext cx="57816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Permiten que el servidor tome decisiones automáticas.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706100" y="616148"/>
            <a:ext cx="723900" cy="276225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2180332"/>
            <a:ext cx="10668000" cy="1996082"/>
          </a:xfrm>
          <a:prstGeom prst="roundRect">
            <a:avLst>
              <a:gd name="adj" fmla="val 572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2000" y="4405014"/>
            <a:ext cx="5219700" cy="828675"/>
          </a:xfrm>
          <a:prstGeom prst="roundRect">
            <a:avLst>
              <a:gd name="adj" fmla="val 91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0300" y="4405014"/>
            <a:ext cx="5219700" cy="828675"/>
          </a:xfrm>
          <a:prstGeom prst="roundRect">
            <a:avLst>
              <a:gd name="adj" fmla="val 91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571500"/>
            <a:ext cx="114300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Inter"/>
              </a:rPr>
              <a:t>Script en Acción: Automatización en Windows (PowerShell)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9450" y="673298"/>
            <a:ext cx="5524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05 /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800" y="2447032"/>
            <a:ext cx="10153650" cy="14626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64748B"/>
                </a:solidFill>
                <a:latin typeface="JetBrains Mono"/>
              </a:rPr>
              <a:t># Comprobación de servicios críticos en Windows</a:t>
            </a:r>
            <a:r>
              <a:t>
</a:t>
            </a:r>
            <a:r>
              <a:rPr b="0" sz="1200" i="0" u="none">
                <a:solidFill>
                  <a:srgbClr val="38BDF8"/>
                </a:solidFill>
                <a:latin typeface="JetBrains Mono"/>
              </a:rPr>
              <a:t>$servicio</a:t>
            </a:r>
            <a:r>
              <a:rPr b="0" sz="1200" i="0" u="none">
                <a:solidFill>
                  <a:srgbClr val="F8FAFC"/>
                </a:solidFill>
                <a:latin typeface="JetBrains Mono"/>
              </a:rPr>
              <a:t> = Get-Service -Name </a:t>
            </a:r>
            <a:r>
              <a:rPr b="0" sz="1200" i="0" u="none">
                <a:solidFill>
                  <a:srgbClr val="A5B4FC"/>
                </a:solidFill>
                <a:latin typeface="JetBrains Mono"/>
              </a:rPr>
              <a:t>"W3SVC"</a:t>
            </a:r>
            <a:r>
              <a:t>
</a:t>
            </a:r>
            <a:r>
              <a:rPr b="0" sz="1200" i="0" u="none">
                <a:solidFill>
                  <a:srgbClr val="F43F5E"/>
                </a:solidFill>
                <a:latin typeface="JetBrains Mono"/>
              </a:rPr>
              <a:t>if</a:t>
            </a:r>
            <a:r>
              <a:rPr b="0" sz="1200" i="0" u="none">
                <a:solidFill>
                  <a:srgbClr val="F8FAFC"/>
                </a:solidFill>
                <a:latin typeface="JetBrains Mono"/>
              </a:rPr>
              <a:t> (</a:t>
            </a:r>
            <a:r>
              <a:rPr b="0" sz="1200" i="0" u="none">
                <a:solidFill>
                  <a:srgbClr val="38BDF8"/>
                </a:solidFill>
                <a:latin typeface="JetBrains Mono"/>
              </a:rPr>
              <a:t>$servicio</a:t>
            </a:r>
            <a:r>
              <a:rPr b="0" sz="1200" i="0" u="none">
                <a:solidFill>
                  <a:srgbClr val="F8FAFC"/>
                </a:solidFill>
                <a:latin typeface="JetBrains Mono"/>
              </a:rPr>
              <a:t>.Status -ne </a:t>
            </a:r>
            <a:r>
              <a:rPr b="0" sz="1200" i="0" u="none">
                <a:solidFill>
                  <a:srgbClr val="A5B4FC"/>
                </a:solidFill>
                <a:latin typeface="JetBrains Mono"/>
              </a:rPr>
              <a:t>"Running"</a:t>
            </a:r>
            <a:r>
              <a:rPr b="0" sz="1200" i="0" u="none">
                <a:solidFill>
                  <a:srgbClr val="F8FAFC"/>
                </a:solidFill>
                <a:latin typeface="JetBrains Mono"/>
              </a:rPr>
              <a:t>) {</a:t>
            </a:r>
            <a:r>
              <a:t>
</a:t>
            </a:r>
            <a:r>
              <a:rPr b="0" sz="1200" i="0" u="none">
                <a:solidFill>
                  <a:srgbClr val="F8FAFC"/>
                </a:solidFill>
                <a:latin typeface="JetBrains Mono"/>
              </a:rPr>
              <a:t>   Start-Service -Name </a:t>
            </a:r>
            <a:r>
              <a:rPr b="0" sz="1200" i="0" u="none">
                <a:solidFill>
                  <a:srgbClr val="A5B4FC"/>
                </a:solidFill>
                <a:latin typeface="JetBrains Mono"/>
              </a:rPr>
              <a:t>"W3SVC"</a:t>
            </a:r>
            <a:r>
              <a:t>
</a:t>
            </a:r>
            <a:r>
              <a:rPr b="0" sz="1200" i="0" u="none">
                <a:solidFill>
                  <a:srgbClr val="F8FAFC"/>
                </a:solidFill>
                <a:latin typeface="JetBrains Mono"/>
              </a:rPr>
              <a:t>   Write-Host </a:t>
            </a:r>
            <a:r>
              <a:rPr b="0" sz="1200" i="0" u="none">
                <a:solidFill>
                  <a:srgbClr val="A5B4FC"/>
                </a:solidFill>
                <a:latin typeface="JetBrains Mono"/>
              </a:rPr>
              <a:t>"Servicio Web reiniciado automáticamente con éxito."</a:t>
            </a:r>
            <a:r>
              <a:rPr b="0" sz="1200" i="0" u="none">
                <a:solidFill>
                  <a:srgbClr val="F8FAFC"/>
                </a:solidFill>
                <a:latin typeface="JetBrains Mono"/>
              </a:rPr>
              <a:t> -ForegroundColor Green</a:t>
            </a:r>
            <a:r>
              <a:t>
</a:t>
            </a:r>
            <a:r>
              <a:rPr b="0" sz="1200" i="0" u="none">
                <a:solidFill>
                  <a:srgbClr val="F8FAFC"/>
                </a:solidFill>
                <a:latin typeface="JetBrains Mono"/>
              </a:rPr>
              <a:t> 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25" y="4605039"/>
            <a:ext cx="602456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Cmdlets de PowerShell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025" y="4852689"/>
            <a:ext cx="602456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Objetos nativos del sistema operativo listos para consultar y gestionar.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0325" y="4605039"/>
            <a:ext cx="57816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Respuesta Autónoma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0325" y="4852689"/>
            <a:ext cx="57816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El script soluciona la incidencia antes de que impacte a los usuarios.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706100" y="616148"/>
            <a:ext cx="723900" cy="276225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3011685"/>
            <a:ext cx="3403550" cy="142875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94150" y="3011685"/>
            <a:ext cx="3403550" cy="142875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26300" y="3106935"/>
            <a:ext cx="3403550" cy="1238250"/>
          </a:xfrm>
          <a:prstGeom prst="roundRect">
            <a:avLst>
              <a:gd name="adj" fmla="val 923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571500"/>
            <a:ext cx="9138642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Inter"/>
              </a:rPr>
              <a:t>Pensamiento Estructurado en Infraestructuras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9450" y="673298"/>
            <a:ext cx="5524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06 /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8225" y="3287910"/>
            <a:ext cx="374206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Receta Exacta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225" y="3592710"/>
            <a:ext cx="29463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475569"/>
                </a:solidFill>
                <a:latin typeface="Inter"/>
              </a:rPr>
              <a:t>Lista ordenada de órdenes que el sistema interpreta paso a paso sin compilación.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70375" y="3287910"/>
            <a:ext cx="374206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Diagnóstico Lógico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0375" y="3592710"/>
            <a:ext cx="29463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475569"/>
                </a:solidFill>
                <a:latin typeface="Inter"/>
              </a:rPr>
              <a:t>Descompone problemas complejos de red o servicios en partes simples y aisladas.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525" y="3383160"/>
            <a:ext cx="374206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Mentalidad SysAdmin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525" y="3687960"/>
            <a:ext cx="29463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475569"/>
                </a:solidFill>
                <a:latin typeface="Inter"/>
              </a:rPr>
              <a:t>Funciona exactamente igual que un algoritmo ante incidencias críticas.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933825" y="4226123"/>
            <a:ext cx="4324350" cy="647700"/>
          </a:xfrm>
          <a:prstGeom prst="roundRect">
            <a:avLst>
              <a:gd name="adj" fmla="val 17647"/>
            </a:avLst>
          </a:prstGeom>
          <a:solidFill>
            <a:srgbClr val="13283F"/>
          </a:solidFill>
          <a:ln w="952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66046" y="1984027"/>
            <a:ext cx="3059906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38BDF8"/>
                </a:solidFill>
                <a:latin typeface="Inter"/>
              </a:rPr>
              <a:t>DE LA TEORÍA A LA PRÁCTICA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0296" y="2298352"/>
            <a:ext cx="11251406" cy="1508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959"/>
              </a:lnSpc>
            </a:pPr>
            <a:r>
              <a:rPr b="1" sz="3300" i="0" u="none">
                <a:solidFill>
                  <a:srgbClr val="F8FAFC"/>
                </a:solidFill>
                <a:latin typeface="Inter"/>
              </a:rPr>
              <a:t>No hace falta ser desarrollador para ser un SysAdmin extraordinario, pero sí dominar la automatización.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33812" y="4426148"/>
            <a:ext cx="45243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38BDF8"/>
                </a:solidFill>
                <a:latin typeface="Inter"/>
              </a:rPr>
              <a:t>🚀 ¡Abrid la terminal y empezamos!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